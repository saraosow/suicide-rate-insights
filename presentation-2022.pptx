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67" r:id="rId5"/>
    <p:sldId id="258" r:id="rId6"/>
    <p:sldId id="264" r:id="rId7"/>
    <p:sldId id="263" r:id="rId8"/>
    <p:sldId id="259" r:id="rId9"/>
    <p:sldId id="269" r:id="rId10"/>
    <p:sldId id="265" r:id="rId11"/>
    <p:sldId id="266" r:id="rId12"/>
    <p:sldId id="26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9"/>
    <p:restoredTop sz="88820"/>
  </p:normalViewPr>
  <p:slideViewPr>
    <p:cSldViewPr snapToGrid="0" snapToObjects="1">
      <p:cViewPr>
        <p:scale>
          <a:sx n="114" d="100"/>
          <a:sy n="114" d="100"/>
        </p:scale>
        <p:origin x="47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2C4C8-D997-6449-941E-49C35CD5BA73}" type="datetimeFigureOut">
              <a:rPr lang="en-US" smtClean="0"/>
              <a:t>5/10/22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4AFF3-5624-A94F-94F8-850EBFC78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9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4AFF3-5624-A94F-94F8-850EBFC780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39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4AFF3-5624-A94F-94F8-850EBFC780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88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4AFF3-5624-A94F-94F8-850EBFC780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96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4AFF3-5624-A94F-94F8-850EBFC7800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228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4AFF3-5624-A94F-94F8-850EBFC7800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3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4AFF3-5624-A94F-94F8-850EBFC7800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39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5/10/22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5/10/22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5/10/22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5/10/22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5/10/22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5/10/22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5/10/22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5/10/22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5/10/22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5/10/22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5/10/22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5/10/22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lmorgan95/r-suicide-rates-in-depth-stats-insight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6F94-4247-154F-8C6D-7406D9ED87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Suicide Rate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FA482-B23A-7D4D-BFDF-994CD418DC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Sara </a:t>
            </a:r>
            <a:r>
              <a:rPr lang="en-US" sz="2000" dirty="0" err="1"/>
              <a:t>Osowski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55771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3A1D-DDC3-1046-8352-C2D6C338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FF8C2-5F31-D644-874D-BE9CAF61D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dirty="0"/>
              <a:t>Dataset includes global suicide trends in regards to continent, sex, age, country, and more </a:t>
            </a:r>
          </a:p>
          <a:p>
            <a:pPr lvl="1"/>
            <a:r>
              <a:rPr lang="en-US" sz="2800" dirty="0"/>
              <a:t>Suicide rates are highly researched </a:t>
            </a:r>
            <a:r>
              <a:rPr lang="en-US" sz="2800" dirty="0">
                <a:sym typeface="Wingdings" pitchFamily="2" charset="2"/>
              </a:rPr>
              <a:t></a:t>
            </a:r>
            <a:r>
              <a:rPr lang="en-US" sz="2800" dirty="0"/>
              <a:t> Can learn a lot from working with this topic</a:t>
            </a:r>
          </a:p>
          <a:p>
            <a:pPr lvl="1"/>
            <a:r>
              <a:rPr lang="en-US" sz="2800" dirty="0"/>
              <a:t>Interested in learning about…</a:t>
            </a:r>
          </a:p>
          <a:p>
            <a:pPr lvl="2"/>
            <a:r>
              <a:rPr lang="en-US" sz="2800" dirty="0"/>
              <a:t>Demographics decreasing in suicide rates more than others</a:t>
            </a:r>
          </a:p>
          <a:p>
            <a:pPr lvl="2"/>
            <a:r>
              <a:rPr lang="en-US" sz="2800" dirty="0"/>
              <a:t>Comparing high school/college aged students in the U.S. to other demographics</a:t>
            </a:r>
          </a:p>
        </p:txBody>
      </p:sp>
    </p:spTree>
    <p:extLst>
      <p:ext uri="{BB962C8B-B14F-4D97-AF65-F5344CB8AC3E}">
        <p14:creationId xmlns:p14="http://schemas.microsoft.com/office/powerpoint/2010/main" val="3132934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9686F-9C36-1945-9A3F-ED338D92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FC13-B0C6-BF43-A8C2-D1E01A480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6443472" cy="4023360"/>
          </a:xfrm>
        </p:spPr>
        <p:txBody>
          <a:bodyPr/>
          <a:lstStyle/>
          <a:p>
            <a:r>
              <a:rPr lang="en-US" sz="2800" dirty="0"/>
              <a:t>Data from </a:t>
            </a:r>
            <a:r>
              <a:rPr lang="en-US" sz="2800" u="sng" dirty="0">
                <a:hlinkClick r:id="rId3"/>
              </a:rPr>
              <a:t>https://www.kaggle.com/lmorgan95/r-suicide-rates-in-depth-stats-insights</a:t>
            </a:r>
            <a:r>
              <a:rPr lang="en-US" sz="2800" dirty="0"/>
              <a:t> </a:t>
            </a:r>
          </a:p>
          <a:p>
            <a:endParaRPr lang="en-US" sz="2800" dirty="0"/>
          </a:p>
          <a:p>
            <a:pPr lvl="1"/>
            <a:r>
              <a:rPr lang="en-US" sz="2800" dirty="0"/>
              <a:t>The process:</a:t>
            </a:r>
          </a:p>
          <a:p>
            <a:pPr lvl="2"/>
            <a:r>
              <a:rPr lang="en-US" sz="2800" dirty="0"/>
              <a:t>Cleaned data &amp; performed EDA</a:t>
            </a:r>
          </a:p>
          <a:p>
            <a:pPr lvl="2"/>
            <a:r>
              <a:rPr lang="en-US" sz="2800" dirty="0"/>
              <a:t>Graphed trends</a:t>
            </a:r>
          </a:p>
        </p:txBody>
      </p:sp>
      <p:pic>
        <p:nvPicPr>
          <p:cNvPr id="5" name="Picture 4" descr="A black screen with white text&#10;&#10;Description automatically generated with low confidence">
            <a:extLst>
              <a:ext uri="{FF2B5EF4-FFF2-40B4-BE49-F238E27FC236}">
                <a16:creationId xmlns:a16="http://schemas.microsoft.com/office/drawing/2014/main" id="{D4B22814-738F-984C-A672-099783303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1" y="2192867"/>
            <a:ext cx="4279900" cy="25654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652A76-C45E-0643-8859-E5D039A74827}"/>
              </a:ext>
            </a:extLst>
          </p:cNvPr>
          <p:cNvSpPr txBox="1">
            <a:spLocks/>
          </p:cNvSpPr>
          <p:nvPr/>
        </p:nvSpPr>
        <p:spPr>
          <a:xfrm>
            <a:off x="7467601" y="5086434"/>
            <a:ext cx="4279900" cy="71661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Description of the data after cleaning</a:t>
            </a:r>
          </a:p>
        </p:txBody>
      </p:sp>
    </p:spTree>
    <p:extLst>
      <p:ext uri="{BB962C8B-B14F-4D97-AF65-F5344CB8AC3E}">
        <p14:creationId xmlns:p14="http://schemas.microsoft.com/office/powerpoint/2010/main" val="161935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CEE7-3569-6B42-83D3-8DFCCD7E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 v. Women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99546-C63D-8548-B401-ACA3046DD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+mj-lt"/>
              </a:rPr>
              <a:t>GLOBALLY,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97648-9BCE-034E-9FC8-FA3E5090C2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dirty="0"/>
              <a:t>Men are 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i="1" dirty="0">
                <a:solidFill>
                  <a:schemeClr val="accent1"/>
                </a:solidFill>
              </a:rPr>
              <a:t>﻿</a:t>
            </a:r>
            <a:r>
              <a:rPr lang="en-US" sz="3600" dirty="0">
                <a:solidFill>
                  <a:schemeClr val="accent1"/>
                </a:solidFill>
                <a:latin typeface="+mj-lt"/>
              </a:rPr>
              <a:t>3.327509547453905 times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dirty="0"/>
              <a:t>more likely to commit suicide than women.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79BC49-0CF0-8D49-B83C-DB57527C8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+mj-lt"/>
              </a:rPr>
              <a:t>IN THE UNITED STATES,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55417A-E34B-434D-81DD-CD304C09F1B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dirty="0"/>
              <a:t>Men are 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chemeClr val="accent1"/>
                </a:solidFill>
                <a:latin typeface="+mj-lt"/>
              </a:rPr>
              <a:t>﻿3.836424271622146 times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dirty="0"/>
              <a:t>more likely to commit suicide than women.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33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D064-DD76-A243-A55C-D4A18DE7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93109" cy="1499616"/>
          </a:xfrm>
        </p:spPr>
        <p:txBody>
          <a:bodyPr>
            <a:normAutofit/>
          </a:bodyPr>
          <a:lstStyle/>
          <a:p>
            <a:r>
              <a:rPr lang="en-US" sz="3500" dirty="0"/>
              <a:t>Which ages are decreasing in suicide rates more than others?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C0D06-AFF3-B448-BF72-DA4C55630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</p:spPr>
        <p:txBody>
          <a:bodyPr anchor="ctr">
            <a:normAutofit/>
          </a:bodyPr>
          <a:lstStyle/>
          <a:p>
            <a:pPr lvl="1">
              <a:buClr>
                <a:schemeClr val="bg1"/>
              </a:buClr>
            </a:pPr>
            <a:r>
              <a:rPr lang="en-US" sz="2800" dirty="0">
                <a:solidFill>
                  <a:srgbClr val="FFFFFF"/>
                </a:solidFill>
              </a:rPr>
              <a:t>Peak of total suicides in 1999</a:t>
            </a:r>
          </a:p>
          <a:p>
            <a:pPr lvl="1">
              <a:buClr>
                <a:schemeClr val="bg1"/>
              </a:buClr>
            </a:pPr>
            <a:r>
              <a:rPr lang="en-US" sz="2800" dirty="0">
                <a:solidFill>
                  <a:srgbClr val="FFFFFF"/>
                </a:solidFill>
              </a:rPr>
              <a:t>Suicide rates are decreasing or stagnant for most age groups after peak</a:t>
            </a:r>
          </a:p>
          <a:p>
            <a:pPr lvl="1">
              <a:buClr>
                <a:schemeClr val="bg1"/>
              </a:buClr>
            </a:pPr>
            <a:r>
              <a:rPr lang="en-US" sz="2800" dirty="0">
                <a:solidFill>
                  <a:srgbClr val="FFFFFF"/>
                </a:solidFill>
              </a:rPr>
              <a:t>Higher suicide rate is correlated to higher age</a:t>
            </a: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09546049-8FFD-FA4B-8185-8E780811E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09" y="1926369"/>
            <a:ext cx="6485233" cy="390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66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D55BC-ECD0-264B-986A-DFA70F8CC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156161" cy="1499616"/>
          </a:xfrm>
        </p:spPr>
        <p:txBody>
          <a:bodyPr>
            <a:normAutofit/>
          </a:bodyPr>
          <a:lstStyle/>
          <a:p>
            <a:r>
              <a:rPr lang="en-US" sz="3500" dirty="0"/>
              <a:t>Which ages are decreasing in suicide rates more than others? (U.S.)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CF6EEC0F-708D-42CE-B504-1118EE992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</p:spPr>
        <p:txBody>
          <a:bodyPr anchor="ctr">
            <a:normAutofit/>
          </a:bodyPr>
          <a:lstStyle/>
          <a:p>
            <a:pPr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</a:rPr>
              <a:t>In the U.S. specifically, rates are not as consistent between ages or years</a:t>
            </a:r>
          </a:p>
          <a:p>
            <a:pPr>
              <a:buClr>
                <a:schemeClr val="bg1"/>
              </a:buClr>
              <a:buFont typeface="Wingdings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</a:rPr>
              <a:t>Ages 35-54 most recently have the highest rates</a:t>
            </a: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A5C9F164-E05B-334D-B01B-A74BAF3C5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09" y="1872062"/>
            <a:ext cx="7153813" cy="424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24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BA0C938-1486-4635-9F6C-44D521FA6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2A7ABB-6A86-4A02-A072-FA82CDCE5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28" y="484632"/>
            <a:ext cx="11244036" cy="5880916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B854A-C36A-364E-9674-D065A4CC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356" y="806365"/>
            <a:ext cx="7020747" cy="52296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600" dirty="0"/>
              <a:t>Comparing high school/college aged students in the U.S. to other demographics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916720-6D22-4D4B-BC19-23008C7DD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546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0E79C-9B2E-8B4E-A2EC-FC722829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Comparing high school/college aged students in the U.S. to other demographics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97F45-0914-7D4F-9EC5-725AD4306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670048"/>
            <a:ext cx="3791711" cy="3547872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First wanted to see where the U.S. stands in total suicides for ages 14-24 from 1985-2015 compared to other countries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U.S. and Russia have much more than any other country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In all countries, men have ~3x more total suicides than women</a:t>
            </a:r>
          </a:p>
          <a:p>
            <a:pPr lvl="1">
              <a:buClr>
                <a:schemeClr val="bg1"/>
              </a:buClr>
              <a:buFont typeface="Wingdings" pitchFamily="2" charset="2"/>
              <a:buChar char="§"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8" name="Picture 7" descr="A black screen with white text&#10;&#10;Description automatically generated with low confidence">
            <a:extLst>
              <a:ext uri="{FF2B5EF4-FFF2-40B4-BE49-F238E27FC236}">
                <a16:creationId xmlns:a16="http://schemas.microsoft.com/office/drawing/2014/main" id="{155E8150-A025-E541-A10A-F78065B5A7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9"/>
          <a:stretch/>
        </p:blipFill>
        <p:spPr>
          <a:xfrm>
            <a:off x="6490080" y="1173191"/>
            <a:ext cx="4677791" cy="455996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67973AD-FC74-C94D-A031-E417A8CF9C65}"/>
              </a:ext>
            </a:extLst>
          </p:cNvPr>
          <p:cNvSpPr txBox="1">
            <a:spLocks/>
          </p:cNvSpPr>
          <p:nvPr/>
        </p:nvSpPr>
        <p:spPr>
          <a:xfrm>
            <a:off x="6689025" y="5945078"/>
            <a:ext cx="4279900" cy="71661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Top 15 countries in total suicides </a:t>
            </a:r>
          </a:p>
        </p:txBody>
      </p:sp>
    </p:spTree>
    <p:extLst>
      <p:ext uri="{BB962C8B-B14F-4D97-AF65-F5344CB8AC3E}">
        <p14:creationId xmlns:p14="http://schemas.microsoft.com/office/powerpoint/2010/main" val="271798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7479-FF84-F442-AA62-842331A59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548497" cy="1499616"/>
          </a:xfrm>
        </p:spPr>
        <p:txBody>
          <a:bodyPr>
            <a:normAutofit/>
          </a:bodyPr>
          <a:lstStyle/>
          <a:p>
            <a:r>
              <a:rPr lang="en-US" sz="4000" dirty="0"/>
              <a:t>Top 15 Countries with the highest suicides per 100k Population for Age Range 15-24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324690-C97F-CA4C-B9B4-4825CB48B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43100"/>
            <a:ext cx="10363010" cy="3693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dirty="0"/>
              <a:t>United States is not one of the countries with the highest suicide rates despite being high in the previous list for total suicides.</a:t>
            </a:r>
          </a:p>
        </p:txBody>
      </p:sp>
      <p:pic>
        <p:nvPicPr>
          <p:cNvPr id="5" name="Content Placeholder 4" descr="A black screen with white text&#10;&#10;Description automatically generated with low confidence">
            <a:extLst>
              <a:ext uri="{FF2B5EF4-FFF2-40B4-BE49-F238E27FC236}">
                <a16:creationId xmlns:a16="http://schemas.microsoft.com/office/drawing/2014/main" id="{053097D1-0CD0-1B4B-A946-B1A31BD62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380" y="2500312"/>
            <a:ext cx="6916506" cy="364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5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8883-67C4-F94D-A04D-102B59DD2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867061" cy="1499616"/>
          </a:xfrm>
        </p:spPr>
        <p:txBody>
          <a:bodyPr>
            <a:normAutofit/>
          </a:bodyPr>
          <a:lstStyle/>
          <a:p>
            <a:r>
              <a:rPr lang="en-US" dirty="0"/>
              <a:t>Suicide rate for U.S. Men v. Women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F25557E-A437-4187-84BC-4277F2B22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</p:spPr>
        <p:txBody>
          <a:bodyPr anchor="ctr">
            <a:normAutofit/>
          </a:bodyPr>
          <a:lstStyle/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A closer view at the difference between rates for men and women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Male and female rates peaked in 2015</a:t>
            </a:r>
          </a:p>
          <a:p>
            <a:pPr lv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Dip in the graph; upward trend towards the end</a:t>
            </a:r>
          </a:p>
          <a:p>
            <a:pPr lv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</a:rPr>
              <a:t>Upward trend in most recent years</a:t>
            </a:r>
          </a:p>
        </p:txBody>
      </p:sp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DB0CA3F6-6110-6247-82FB-BD0F32E4F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9" y="1915179"/>
            <a:ext cx="7396417" cy="425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10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2E437-0D2C-E746-9164-EC026AA54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Suicide Rate Per Generation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21529D2-693E-4C74-9530-FFA99A1AD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417243" cy="40233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Mid-life peak in suicide trends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High school/college age group has less than half of 35-54 age group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257C61-15B5-6442-8F1F-9EBE979480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54" r="5461"/>
          <a:stretch/>
        </p:blipFill>
        <p:spPr>
          <a:xfrm>
            <a:off x="4441371" y="1709275"/>
            <a:ext cx="7750629" cy="438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08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BC736F-FD1E-4980-876D-E5C387739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98EE46-797C-45B8-8337-491B94E05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3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CCD6BB-5B1C-DF40-8B39-B7F1DFAF1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501" y="640080"/>
            <a:ext cx="4019429" cy="3339348"/>
          </a:xfrm>
        </p:spPr>
        <p:txBody>
          <a:bodyPr anchor="b">
            <a:normAutofit/>
          </a:bodyPr>
          <a:lstStyle/>
          <a:p>
            <a:r>
              <a:rPr lang="en-US" sz="6600" dirty="0">
                <a:solidFill>
                  <a:srgbClr val="FFFFFF"/>
                </a:solidFill>
              </a:rPr>
              <a:t>Thank You!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4CA735-62CB-4665-AA7D-4A259E3F7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9130" y="4156010"/>
            <a:ext cx="35661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915B512-930A-40F0-82A6-4895B71A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396" y="0"/>
            <a:ext cx="6909991" cy="6858000"/>
          </a:xfrm>
          <a:prstGeom prst="rect">
            <a:avLst/>
          </a:pr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6350" ty="-10160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7157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417</Words>
  <Application>Microsoft Macintosh PowerPoint</Application>
  <PresentationFormat>Widescreen</PresentationFormat>
  <Paragraphs>54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Suicide Rate Insights</vt:lpstr>
      <vt:lpstr>Introduction</vt:lpstr>
      <vt:lpstr>The Data</vt:lpstr>
      <vt:lpstr>Men v. Women</vt:lpstr>
      <vt:lpstr>Which ages are decreasing in suicide rates more than others?</vt:lpstr>
      <vt:lpstr>Which ages are decreasing in suicide rates more than others? (U.S.)</vt:lpstr>
      <vt:lpstr>Comparing high school/college aged students in the U.S. to other demographics</vt:lpstr>
      <vt:lpstr>Comparing high school/college aged students in the U.S. to other demographics</vt:lpstr>
      <vt:lpstr>Top 15 Countries with the highest suicides per 100k Population for Age Range 15-24</vt:lpstr>
      <vt:lpstr>Suicide rate for U.S. Men v. Women</vt:lpstr>
      <vt:lpstr>Suicide Rate Per Generation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Suicide Rate Insights</dc:title>
  <dc:creator>Sara Osowski</dc:creator>
  <cp:lastModifiedBy>Sara Osowski</cp:lastModifiedBy>
  <cp:revision>24</cp:revision>
  <dcterms:created xsi:type="dcterms:W3CDTF">2021-12-02T22:36:52Z</dcterms:created>
  <dcterms:modified xsi:type="dcterms:W3CDTF">2022-05-11T00:21:13Z</dcterms:modified>
</cp:coreProperties>
</file>